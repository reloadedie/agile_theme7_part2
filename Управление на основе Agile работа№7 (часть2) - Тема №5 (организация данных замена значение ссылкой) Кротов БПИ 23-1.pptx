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73" r:id="rId7"/>
    <p:sldId id="261" r:id="rId8"/>
    <p:sldId id="266" r:id="rId9"/>
    <p:sldId id="262" r:id="rId10"/>
    <p:sldId id="263" r:id="rId11"/>
    <p:sldId id="264" r:id="rId12"/>
    <p:sldId id="265" r:id="rId13"/>
    <p:sldId id="268" r:id="rId14"/>
    <p:sldId id="270" r:id="rId15"/>
    <p:sldId id="277" r:id="rId16"/>
    <p:sldId id="276" r:id="rId17"/>
    <p:sldId id="274" r:id="rId18"/>
    <p:sldId id="275" r:id="rId19"/>
    <p:sldId id="278" r:id="rId20"/>
    <p:sldId id="267" r:id="rId21"/>
    <p:sldId id="269" r:id="rId22"/>
    <p:sldId id="281" r:id="rId23"/>
    <p:sldId id="272" r:id="rId24"/>
    <p:sldId id="279" r:id="rId25"/>
    <p:sldId id="280" r:id="rId26"/>
    <p:sldId id="27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3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50DE5-868C-496F-84F2-7FB3B8A5A766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33F9F20B-CD2B-4BB9-9260-76A5FA7C6CED}" type="slidenum">
              <a:rPr lang="ru-RU" smtClean="0"/>
              <a:t>‹#›</a:t>
            </a:fld>
            <a:endParaRPr lang="ru-RU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1983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50DE5-868C-496F-84F2-7FB3B8A5A766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9F20B-CD2B-4BB9-9260-76A5FA7C6CED}" type="slidenum">
              <a:rPr lang="ru-RU" smtClean="0"/>
              <a:t>‹#›</a:t>
            </a:fld>
            <a:endParaRPr lang="ru-RU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0197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50DE5-868C-496F-84F2-7FB3B8A5A766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9F20B-CD2B-4BB9-9260-76A5FA7C6CED}" type="slidenum">
              <a:rPr lang="ru-RU" smtClean="0"/>
              <a:t>‹#›</a:t>
            </a:fld>
            <a:endParaRPr lang="ru-R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1394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50DE5-868C-496F-84F2-7FB3B8A5A766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9F20B-CD2B-4BB9-9260-76A5FA7C6CED}" type="slidenum">
              <a:rPr lang="ru-RU" smtClean="0"/>
              <a:t>‹#›</a:t>
            </a:fld>
            <a:endParaRPr lang="ru-RU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65452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50DE5-868C-496F-84F2-7FB3B8A5A766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9F20B-CD2B-4BB9-9260-76A5FA7C6CED}" type="slidenum">
              <a:rPr lang="ru-RU" smtClean="0"/>
              <a:t>‹#›</a:t>
            </a:fld>
            <a:endParaRPr lang="ru-RU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0944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50DE5-868C-496F-84F2-7FB3B8A5A766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9F20B-CD2B-4BB9-9260-76A5FA7C6CED}" type="slidenum">
              <a:rPr lang="ru-RU" smtClean="0"/>
              <a:t>‹#›</a:t>
            </a:fld>
            <a:endParaRPr lang="ru-RU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05122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50DE5-868C-496F-84F2-7FB3B8A5A766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9F20B-CD2B-4BB9-9260-76A5FA7C6C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191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50DE5-868C-496F-84F2-7FB3B8A5A766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9F20B-CD2B-4BB9-9260-76A5FA7C6CED}" type="slidenum">
              <a:rPr lang="ru-RU" smtClean="0"/>
              <a:t>‹#›</a:t>
            </a:fld>
            <a:endParaRPr lang="ru-RU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4355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2250DE5-868C-496F-84F2-7FB3B8A5A766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9F20B-CD2B-4BB9-9260-76A5FA7C6CED}" type="slidenum">
              <a:rPr lang="ru-RU" smtClean="0"/>
              <a:t>‹#›</a:t>
            </a:fld>
            <a:endParaRPr lang="ru-RU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88962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50DE5-868C-496F-84F2-7FB3B8A5A766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9F20B-CD2B-4BB9-9260-76A5FA7C6CED}" type="slidenum">
              <a:rPr lang="ru-RU" smtClean="0"/>
              <a:t>‹#›</a:t>
            </a:fld>
            <a:endParaRPr lang="ru-RU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9873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50DE5-868C-496F-84F2-7FB3B8A5A766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F9F20B-CD2B-4BB9-9260-76A5FA7C6CED}" type="slidenum">
              <a:rPr lang="ru-RU" smtClean="0"/>
              <a:t>‹#›</a:t>
            </a:fld>
            <a:endParaRPr lang="ru-RU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8118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250DE5-868C-496F-84F2-7FB3B8A5A766}" type="datetimeFigureOut">
              <a:rPr lang="ru-RU" smtClean="0"/>
              <a:t>15.04.2026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33F9F20B-CD2B-4BB9-9260-76A5FA7C6CED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699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7F9A97-D5FE-F348-F951-39045A1ED1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55449"/>
            <a:ext cx="9729216" cy="2404872"/>
          </a:xfrm>
        </p:spPr>
        <p:txBody>
          <a:bodyPr>
            <a:normAutofit/>
          </a:bodyPr>
          <a:lstStyle/>
          <a:p>
            <a:r>
              <a:rPr lang="ru-RU" dirty="0"/>
              <a:t>Организация данных: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818D660-5ABA-FA16-9C4E-42125508B6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Кротов БПИ 23-1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A03994B4-69C8-251E-D444-D46816BEDA8B}"/>
              </a:ext>
            </a:extLst>
          </p:cNvPr>
          <p:cNvSpPr txBox="1">
            <a:spLocks/>
          </p:cNvSpPr>
          <p:nvPr/>
        </p:nvSpPr>
        <p:spPr>
          <a:xfrm>
            <a:off x="2570180" y="2632831"/>
            <a:ext cx="8637072" cy="977621"/>
          </a:xfrm>
          <a:prstGeom prst="rect">
            <a:avLst/>
          </a:prstGeom>
        </p:spPr>
        <p:txBody>
          <a:bodyPr vert="horz" lIns="91440" tIns="91440" rIns="91440" bIns="9144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800" b="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800" kern="1200" cap="none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 cap="none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замена значение ссылкой, замена ссылки значением, дублирование видимых данных, </a:t>
            </a:r>
            <a:r>
              <a:rPr lang="ru-RU" dirty="0" err="1"/>
              <a:t>самоинкапсуляция</a:t>
            </a:r>
            <a:r>
              <a:rPr lang="ru-RU" dirty="0"/>
              <a:t> поля, замена поля-массива объектом, замена простого поля объектом </a:t>
            </a:r>
          </a:p>
        </p:txBody>
      </p:sp>
    </p:spTree>
    <p:extLst>
      <p:ext uri="{BB962C8B-B14F-4D97-AF65-F5344CB8AC3E}">
        <p14:creationId xmlns:p14="http://schemas.microsoft.com/office/powerpoint/2010/main" val="42068968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E6CC54-1438-A64F-953C-EE135354C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FFE0D1-4432-3739-4D53-40DAE9B2B9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1" y="1570567"/>
            <a:ext cx="6720417" cy="4229099"/>
          </a:xfrm>
        </p:spPr>
        <p:txBody>
          <a:bodyPr/>
          <a:lstStyle/>
          <a:p>
            <a:endParaRPr lang="ru-RU" i="1" dirty="0"/>
          </a:p>
          <a:p>
            <a:r>
              <a:rPr lang="ru-RU" dirty="0"/>
              <a:t>"Плохой код делает одно и то же в сотне мест. </a:t>
            </a:r>
            <a:r>
              <a:rPr lang="en-US" dirty="0"/>
              <a:t> </a:t>
            </a:r>
            <a:r>
              <a:rPr lang="ru-RU" dirty="0"/>
              <a:t>Хороший код делает это один раз и правильно.“</a:t>
            </a:r>
            <a:endParaRPr lang="en-US" dirty="0"/>
          </a:p>
          <a:p>
            <a:pPr marL="0" indent="0">
              <a:buNone/>
            </a:pPr>
            <a:r>
              <a:rPr lang="en-US" i="1" dirty="0"/>
              <a:t>    https://habr.com/ru/companies/beeline_tech/articles/731706/</a:t>
            </a:r>
            <a:endParaRPr lang="ru-RU" i="1" dirty="0"/>
          </a:p>
          <a:p>
            <a:r>
              <a:rPr lang="ru-RU" i="1" dirty="0"/>
              <a:t>Повышение качества кода через правильную работу с данными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C4BD8AD-6088-6AD1-AC5E-4EFCC4017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5418" y="1456267"/>
            <a:ext cx="3973689" cy="2879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533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66D66-EC18-C67A-284B-45ACFF5D4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1DA9E4-6322-F1C0-3DC1-33215D42C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Рассматриваемые техники</a:t>
            </a: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C28D08DE-F3C8-D9B2-0D75-034827EB07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94208663"/>
              </p:ext>
            </p:extLst>
          </p:nvPr>
        </p:nvGraphicFramePr>
        <p:xfrm>
          <a:off x="1450975" y="2016125"/>
          <a:ext cx="9604374" cy="346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1458">
                  <a:extLst>
                    <a:ext uri="{9D8B030D-6E8A-4147-A177-3AD203B41FA5}">
                      <a16:colId xmlns:a16="http://schemas.microsoft.com/office/drawing/2014/main" val="138878147"/>
                    </a:ext>
                  </a:extLst>
                </a:gridCol>
                <a:gridCol w="3201458">
                  <a:extLst>
                    <a:ext uri="{9D8B030D-6E8A-4147-A177-3AD203B41FA5}">
                      <a16:colId xmlns:a16="http://schemas.microsoft.com/office/drawing/2014/main" val="3812727943"/>
                    </a:ext>
                  </a:extLst>
                </a:gridCol>
                <a:gridCol w="3201458">
                  <a:extLst>
                    <a:ext uri="{9D8B030D-6E8A-4147-A177-3AD203B41FA5}">
                      <a16:colId xmlns:a16="http://schemas.microsoft.com/office/drawing/2014/main" val="24085553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Техника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Суть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Когда применять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56543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Замена значения ссылкой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Один объект вместо многих копий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Данные часто обновляются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140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Замена ссылки значением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quote-cjk-patch"/>
                        </a:rPr>
                        <a:t>Копия вместо ссылки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Объекты не изменяются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022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Дублирование видимых данных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Кэширование для производительности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Медленные вычисления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1053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Самоинкапсуляция</a:t>
                      </a:r>
                      <a:r>
                        <a:rPr lang="ru-RU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поля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Доступ через геттеры/сеттеры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Нужен контроль доступа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0710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Замена массива объектом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Массив → Класс с полями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Массив хранит разные сущности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970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Замена поля объектом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Примитив → Объект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 поля есть поведение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0792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0965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B5423-6D70-9FC7-15B2-8F0D8ACB1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3A4AF3-6D5F-3EFB-35C7-F99D7A8CD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1. Замена значения ссылкой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6C1E56E-7A83-12FB-4B77-824DCF904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2165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23DA8-60B6-B67A-383E-81190B6CE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0E4F77-E267-7055-7325-A5BCD64AB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53E71327-3C6D-8FB7-C1A9-5FA7ACE036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329" y="1704181"/>
            <a:ext cx="5778271" cy="344963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5569688-E006-B51A-6F63-5E96AE4CF1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83830"/>
            <a:ext cx="5926667" cy="2329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834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C8204-B9F6-2938-4303-E136E5E73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C8C7FB-1B7B-D510-B905-04453C3D2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64A44770-E09D-F85C-56B1-BC9DE819F7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2575" y="219688"/>
            <a:ext cx="5813425" cy="1491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136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7B614-4177-D7A1-31A9-4D158FEB5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19A909-8B42-A190-30D6-259DFFB52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2. замена ссылки значением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D8AE37E-FAD7-8929-B92F-4F0A6B546C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8001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3BF00-24CD-F55A-FD8F-466E8C5DA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B7B822-BABD-13C6-CB0A-A6A04B00D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7B7D3C-8CC6-2CFC-7CCC-035EFEF2B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4016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6EA7-9E49-9D50-EB55-122153255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45E395-5BFB-604E-6BC5-06BBE3184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3. Дублирование видимых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29D0BC-74B0-EB6F-1449-88DB56753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9912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91394-8123-4CF6-8472-BAB7C85B1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A22989-BA43-17CD-4723-D00FD0FBF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D0E179-2566-1F1D-64E1-0B72C143A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7911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66156-3413-43D1-3F54-C703EC65C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009D93-BE24-B7BB-B19F-E8CEDABFF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4. </a:t>
            </a:r>
            <a:r>
              <a:rPr lang="ru-RU" dirty="0" err="1"/>
              <a:t>Самоинкапсуляция</a:t>
            </a:r>
            <a:r>
              <a:rPr lang="ru-RU" dirty="0"/>
              <a:t> поля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E06DF37-98C0-7923-ABDE-3E85245A6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03475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676ED-F604-E06C-7B9C-755C675ED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4D3CDC-B9BC-9690-76D8-9366B2BE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3F4A138-E49F-5E1B-1916-2AFF4360B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6671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B3C4A-DA81-AA6B-9932-51E8106BC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5AC407-7075-FC97-79FF-40DEF3F69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1FDEEF96-74E8-3A9A-7BAE-512DBF41A4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70935" y="2016125"/>
            <a:ext cx="7364454" cy="344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2009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71034E-A03D-B8B4-B408-CC1772DEA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7130B88-D8D6-097B-CC49-A0C19E525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740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6E567-9FF3-6C3C-B1D0-E2C67AB26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8C99DB-04FD-9306-7DFB-7380E05D8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7C79C64-B301-26E7-0301-9A9B01F79D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2113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2FBAE-25F1-B01F-65B7-D9C8E6352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C4FDC6-E7FB-B32B-1667-EAA114EAF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47DBFF2B-A15B-CB3A-4C74-A6F15AEE40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90447" y="2492995"/>
            <a:ext cx="6125430" cy="249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4040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FFAE8-77D2-C10F-A52E-79C0D5B40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0BB89F-82A9-8932-6086-B689C2A82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sz="3600" dirty="0"/>
              <a:t>Полная таблица всех комбинаций</a:t>
            </a:r>
            <a:endParaRPr lang="ru-RU" dirty="0"/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5FE54390-921F-23BD-212B-812D906F770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457594" y="2014792"/>
          <a:ext cx="9591136" cy="3452304"/>
        </p:xfrm>
        <a:graphic>
          <a:graphicData uri="http://schemas.openxmlformats.org/drawingml/2006/table">
            <a:tbl>
              <a:tblPr/>
              <a:tblGrid>
                <a:gridCol w="2049718">
                  <a:extLst>
                    <a:ext uri="{9D8B030D-6E8A-4147-A177-3AD203B41FA5}">
                      <a16:colId xmlns:a16="http://schemas.microsoft.com/office/drawing/2014/main" val="2661230199"/>
                    </a:ext>
                  </a:extLst>
                </a:gridCol>
                <a:gridCol w="2513806">
                  <a:extLst>
                    <a:ext uri="{9D8B030D-6E8A-4147-A177-3AD203B41FA5}">
                      <a16:colId xmlns:a16="http://schemas.microsoft.com/office/drawing/2014/main" val="2334885434"/>
                    </a:ext>
                  </a:extLst>
                </a:gridCol>
                <a:gridCol w="2513806">
                  <a:extLst>
                    <a:ext uri="{9D8B030D-6E8A-4147-A177-3AD203B41FA5}">
                      <a16:colId xmlns:a16="http://schemas.microsoft.com/office/drawing/2014/main" val="3741500330"/>
                    </a:ext>
                  </a:extLst>
                </a:gridCol>
                <a:gridCol w="2513806">
                  <a:extLst>
                    <a:ext uri="{9D8B030D-6E8A-4147-A177-3AD203B41FA5}">
                      <a16:colId xmlns:a16="http://schemas.microsoft.com/office/drawing/2014/main" val="3963959998"/>
                    </a:ext>
                  </a:extLst>
                </a:gridCol>
              </a:tblGrid>
              <a:tr h="431205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Модификатор </a:t>
                      </a:r>
                      <a:r>
                        <a:rPr lang="en-US" sz="1800" b="0">
                          <a:effectLst/>
                          <a:latin typeface="quote-cjk-patch"/>
                        </a:rPr>
                        <a:t>get</a:t>
                      </a:r>
                    </a:p>
                  </a:txBody>
                  <a:tcPr marL="91314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Модификатор </a:t>
                      </a:r>
                      <a:r>
                        <a:rPr lang="en-US" sz="1800" b="0">
                          <a:effectLst/>
                          <a:latin typeface="quote-cjk-patch"/>
                        </a:rPr>
                        <a:t>set</a:t>
                      </a:r>
                    </a:p>
                  </a:txBody>
                  <a:tcPr marL="152190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Кто может читать</a:t>
                      </a:r>
                    </a:p>
                  </a:txBody>
                  <a:tcPr marL="152190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Кто может писать</a:t>
                      </a:r>
                    </a:p>
                  </a:txBody>
                  <a:tcPr marL="152190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8561693"/>
                  </a:ext>
                </a:extLst>
              </a:tr>
              <a:tr h="431205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public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91314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public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52190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Все</a:t>
                      </a:r>
                    </a:p>
                  </a:txBody>
                  <a:tcPr marL="152190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Все</a:t>
                      </a:r>
                    </a:p>
                  </a:txBody>
                  <a:tcPr marL="152190" marR="91314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8618159"/>
                  </a:ext>
                </a:extLst>
              </a:tr>
              <a:tr h="431205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public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91314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private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52190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Все</a:t>
                      </a:r>
                    </a:p>
                  </a:txBody>
                  <a:tcPr marL="152190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Только внутри класса</a:t>
                      </a:r>
                    </a:p>
                  </a:txBody>
                  <a:tcPr marL="152190" marR="91314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595317"/>
                  </a:ext>
                </a:extLst>
              </a:tr>
              <a:tr h="431205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public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91314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protected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52190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Все</a:t>
                      </a:r>
                    </a:p>
                  </a:txBody>
                  <a:tcPr marL="152190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Класс и наследники</a:t>
                      </a:r>
                    </a:p>
                  </a:txBody>
                  <a:tcPr marL="152190" marR="91314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3946831"/>
                  </a:ext>
                </a:extLst>
              </a:tr>
              <a:tr h="431205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public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91314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internal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52190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Все</a:t>
                      </a:r>
                    </a:p>
                  </a:txBody>
                  <a:tcPr marL="152190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Внутри сборки</a:t>
                      </a:r>
                    </a:p>
                  </a:txBody>
                  <a:tcPr marL="152190" marR="91314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117995"/>
                  </a:ext>
                </a:extLst>
              </a:tr>
              <a:tr h="431205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private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91314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public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52190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Только внутри класса</a:t>
                      </a:r>
                    </a:p>
                  </a:txBody>
                  <a:tcPr marL="152190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Все</a:t>
                      </a:r>
                    </a:p>
                  </a:txBody>
                  <a:tcPr marL="152190" marR="91314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123904"/>
                  </a:ext>
                </a:extLst>
              </a:tr>
              <a:tr h="431205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private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91314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private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52190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Только внутри класса</a:t>
                      </a:r>
                    </a:p>
                  </a:txBody>
                  <a:tcPr marL="152190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Только внутри класса</a:t>
                      </a:r>
                    </a:p>
                  </a:txBody>
                  <a:tcPr marL="152190" marR="91314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189794"/>
                  </a:ext>
                </a:extLst>
              </a:tr>
              <a:tr h="431205"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protected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91314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public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52190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Класс и наследники</a:t>
                      </a:r>
                    </a:p>
                  </a:txBody>
                  <a:tcPr marL="152190" marR="152190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 dirty="0">
                          <a:effectLst/>
                          <a:latin typeface="quote-cjk-patch"/>
                        </a:rPr>
                        <a:t>Все</a:t>
                      </a:r>
                    </a:p>
                  </a:txBody>
                  <a:tcPr marL="152190" marR="91314" marT="95119" marB="951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5068986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297623D9-779D-1B9B-6B0A-36184B73D3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63739"/>
            <a:ext cx="65" cy="584679"/>
          </a:xfrm>
          <a:prstGeom prst="rect">
            <a:avLst/>
          </a:prstGeom>
          <a:solidFill>
            <a:srgbClr val="15151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203136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5185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07EF7-DC3D-1625-3241-A0BE385B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831158-4643-C43E-7556-D253B178E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6D16399-E808-8E76-FDDE-E3D9A3D9E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B854BD9-DDDE-C523-A298-3FEE59B1C4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388" y="1747603"/>
            <a:ext cx="8945223" cy="3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4479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9A1AFA-B52E-AAC1-5362-C8C5937FC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Итоги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4876358-A7C0-AF3E-9723-1EE9F01FCA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Модификатор доступа можно указать ТОЛЬКО для ОДНОГО </a:t>
            </a:r>
            <a:r>
              <a:rPr lang="ru-RU" dirty="0" err="1"/>
              <a:t>аксессора</a:t>
            </a:r>
            <a:r>
              <a:rPr lang="ru-RU" dirty="0"/>
              <a:t> (</a:t>
            </a:r>
            <a:r>
              <a:rPr lang="ru-RU" dirty="0" err="1"/>
              <a:t>get</a:t>
            </a:r>
            <a:r>
              <a:rPr lang="ru-RU" dirty="0"/>
              <a:t> или </a:t>
            </a:r>
            <a:r>
              <a:rPr lang="ru-RU" dirty="0" err="1"/>
              <a:t>set</a:t>
            </a:r>
            <a:r>
              <a:rPr lang="ru-RU" dirty="0"/>
              <a:t>)</a:t>
            </a:r>
          </a:p>
          <a:p>
            <a:r>
              <a:rPr lang="ru-RU" dirty="0"/>
              <a:t>Этот модификатор должен быть СТРОЖЕ, чем у самого свойства</a:t>
            </a:r>
          </a:p>
          <a:p>
            <a:r>
              <a:rPr lang="ru-RU" dirty="0"/>
              <a:t>Авто-свойства не могут быть только </a:t>
            </a:r>
            <a:r>
              <a:rPr lang="ru-RU" dirty="0" err="1"/>
              <a:t>set</a:t>
            </a:r>
            <a:r>
              <a:rPr lang="ru-RU" dirty="0"/>
              <a:t> (нужен хотя бы </a:t>
            </a:r>
            <a:r>
              <a:rPr lang="ru-RU" dirty="0" err="1"/>
              <a:t>get</a:t>
            </a:r>
            <a:r>
              <a:rPr lang="ru-RU" dirty="0"/>
              <a:t>) </a:t>
            </a:r>
          </a:p>
          <a:p>
            <a:r>
              <a:rPr lang="ru-RU" dirty="0"/>
              <a:t>Если нужны оба приватные — </a:t>
            </a:r>
            <a:r>
              <a:rPr lang="ru-RU" dirty="0" err="1"/>
              <a:t>private</a:t>
            </a:r>
            <a:r>
              <a:rPr lang="ru-RU" dirty="0"/>
              <a:t> </a:t>
            </a:r>
            <a:r>
              <a:rPr lang="ru-RU" dirty="0" err="1"/>
              <a:t>string</a:t>
            </a:r>
            <a:r>
              <a:rPr lang="ru-RU" dirty="0"/>
              <a:t> Name { </a:t>
            </a:r>
            <a:r>
              <a:rPr lang="ru-RU" dirty="0" err="1"/>
              <a:t>get</a:t>
            </a:r>
            <a:r>
              <a:rPr lang="ru-RU" dirty="0"/>
              <a:t>; </a:t>
            </a:r>
            <a:r>
              <a:rPr lang="ru-RU" dirty="0" err="1"/>
              <a:t>set</a:t>
            </a:r>
            <a:r>
              <a:rPr lang="ru-RU" dirty="0"/>
              <a:t>; }</a:t>
            </a:r>
          </a:p>
        </p:txBody>
      </p:sp>
    </p:spTree>
    <p:extLst>
      <p:ext uri="{BB962C8B-B14F-4D97-AF65-F5344CB8AC3E}">
        <p14:creationId xmlns:p14="http://schemas.microsoft.com/office/powerpoint/2010/main" val="3892276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49906-6E75-79CD-AC6D-543F5C2A3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CB28F1-7B53-6B8E-0D74-71A925339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</a:t>
            </a:r>
            <a:r>
              <a:rPr lang="ru-RU" dirty="0"/>
              <a:t>Замена поля-массива объектом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EF23C97-FF66-009E-13D2-1604A1EA5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68686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A1626-BA4D-23F1-2F61-B22688254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902DBB-D55A-3D06-FCF9-28A189B44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6. </a:t>
            </a:r>
            <a:r>
              <a:rPr lang="ru-RU" dirty="0"/>
              <a:t>Замена простого поля объектом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0F7BBF-746E-2128-D3AB-48BA95065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77526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78DC7-BAF6-B2C6-4E42-0B3BCF049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36861A-14A5-B59A-7F03-9124C4A4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6C0D68-DED6-566F-CB50-0CF965B7F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37466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744D0-FDAB-ED48-8BEB-3367BDA51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1DEE22-6E42-078D-0525-ACAE0D1AE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Рассматриваемые техники</a:t>
            </a: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B42AAABD-C054-5B97-D1AB-B319DD290A9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450975" y="2016125"/>
          <a:ext cx="9604374" cy="346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1458">
                  <a:extLst>
                    <a:ext uri="{9D8B030D-6E8A-4147-A177-3AD203B41FA5}">
                      <a16:colId xmlns:a16="http://schemas.microsoft.com/office/drawing/2014/main" val="138878147"/>
                    </a:ext>
                  </a:extLst>
                </a:gridCol>
                <a:gridCol w="3201458">
                  <a:extLst>
                    <a:ext uri="{9D8B030D-6E8A-4147-A177-3AD203B41FA5}">
                      <a16:colId xmlns:a16="http://schemas.microsoft.com/office/drawing/2014/main" val="3812727943"/>
                    </a:ext>
                  </a:extLst>
                </a:gridCol>
                <a:gridCol w="3201458">
                  <a:extLst>
                    <a:ext uri="{9D8B030D-6E8A-4147-A177-3AD203B41FA5}">
                      <a16:colId xmlns:a16="http://schemas.microsoft.com/office/drawing/2014/main" val="24085553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Техника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Суть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Когда применять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56543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Замена значения ссылкой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Один объект вместо многих копий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Данные часто обновляются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140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Замена ссылки значением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b="0" dirty="0">
                          <a:effectLst/>
                          <a:latin typeface="quote-cjk-patch"/>
                        </a:rPr>
                        <a:t>Копия вместо ссылки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Объекты не изменяются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022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Дублирование видимых данных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Кэширование для производительности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Медленные вычисления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1053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Самоинкапсуляция</a:t>
                      </a:r>
                      <a:r>
                        <a:rPr lang="ru-RU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поля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Доступ через геттеры/сеттеры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Нужен контроль доступа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0710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Замена массива объектом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Массив → Класс с полями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Массив хранит разные сущности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970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Замена поля объектом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Примитив → Объект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 поля есть поведение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0792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01101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C15DA4-C727-8670-2B0F-654A5E12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77D01CE-F7FE-B1A0-2D7B-1062DF869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0293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12F473-1539-A2BE-D06A-3297D0733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7EBEA2-18E3-37FD-45B1-885AE132C0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7223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2AFB4-93B6-1A4B-EFB7-0CE535CDF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DA2374-CBCF-8784-7972-4AE8A3270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3E6AC0-5848-D59E-DF61-FBC2E541E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https://github.com/reloadedie/Agile_Theme7_part2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3603072-8247-E47F-98FF-54B99598D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062" y="2607733"/>
            <a:ext cx="3597798" cy="404640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72AD6D7-9FCD-B3B4-3033-44EA2B6F1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999" y="2664100"/>
            <a:ext cx="6845934" cy="3990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442518"/>
      </p:ext>
    </p:extLst>
  </p:cSld>
  <p:clrMapOvr>
    <a:masterClrMapping/>
  </p:clrMapOvr>
</p:sld>
</file>

<file path=ppt/theme/theme1.xml><?xml version="1.0" encoding="utf-8"?>
<a:theme xmlns:a="http://schemas.openxmlformats.org/drawingml/2006/main" name="Галерея">
  <a:themeElements>
    <a:clrScheme name="Галерея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Галерея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Галерея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97</TotalTime>
  <Words>361</Words>
  <Application>Microsoft Office PowerPoint</Application>
  <PresentationFormat>Широкоэкранный</PresentationFormat>
  <Paragraphs>98</Paragraphs>
  <Slides>26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31" baseType="lpstr">
      <vt:lpstr>Arial</vt:lpstr>
      <vt:lpstr>Gill Sans MT</vt:lpstr>
      <vt:lpstr>Menlo</vt:lpstr>
      <vt:lpstr>quote-cjk-patch</vt:lpstr>
      <vt:lpstr>Галерея</vt:lpstr>
      <vt:lpstr>Организация данных:</vt:lpstr>
      <vt:lpstr>Введение</vt:lpstr>
      <vt:lpstr>Рассматриваемые техники</vt:lpstr>
      <vt:lpstr>1. Замена значения ссылкой </vt:lpstr>
      <vt:lpstr>Презентация PowerPoint</vt:lpstr>
      <vt:lpstr>Презентация PowerPoint</vt:lpstr>
      <vt:lpstr>2. замена ссылки значением </vt:lpstr>
      <vt:lpstr>Презентация PowerPoint</vt:lpstr>
      <vt:lpstr>3. Дублирование видимых данных</vt:lpstr>
      <vt:lpstr>Презентация PowerPoint</vt:lpstr>
      <vt:lpstr>4. Самоинкапсуляция поля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Полная таблица всех комбинаций</vt:lpstr>
      <vt:lpstr>Презентация PowerPoint</vt:lpstr>
      <vt:lpstr>Итоги</vt:lpstr>
      <vt:lpstr>5. Замена поля-массива объектом</vt:lpstr>
      <vt:lpstr>6. Замена простого поля объектом</vt:lpstr>
      <vt:lpstr>Презентация PowerPoint</vt:lpstr>
      <vt:lpstr>Рассматриваемые техники</vt:lpstr>
      <vt:lpstr>Презентация PowerPoint</vt:lpstr>
      <vt:lpstr>Презентация PowerPoint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Кирилл Кротов</dc:creator>
  <cp:lastModifiedBy>Кирилл Кротов</cp:lastModifiedBy>
  <cp:revision>37</cp:revision>
  <dcterms:created xsi:type="dcterms:W3CDTF">2026-04-04T01:12:46Z</dcterms:created>
  <dcterms:modified xsi:type="dcterms:W3CDTF">2026-04-15T14:50:48Z</dcterms:modified>
</cp:coreProperties>
</file>