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82" r:id="rId3"/>
    <p:sldId id="257" r:id="rId4"/>
    <p:sldId id="258" r:id="rId5"/>
    <p:sldId id="259" r:id="rId6"/>
    <p:sldId id="260" r:id="rId7"/>
    <p:sldId id="273" r:id="rId8"/>
    <p:sldId id="284" r:id="rId9"/>
    <p:sldId id="285" r:id="rId10"/>
    <p:sldId id="261" r:id="rId11"/>
    <p:sldId id="262" r:id="rId12"/>
    <p:sldId id="263" r:id="rId13"/>
    <p:sldId id="264" r:id="rId14"/>
    <p:sldId id="268" r:id="rId15"/>
    <p:sldId id="265" r:id="rId16"/>
    <p:sldId id="274" r:id="rId17"/>
    <p:sldId id="278" r:id="rId18"/>
    <p:sldId id="267" r:id="rId19"/>
    <p:sldId id="279" r:id="rId20"/>
    <p:sldId id="281" r:id="rId21"/>
    <p:sldId id="280" r:id="rId22"/>
    <p:sldId id="272" r:id="rId23"/>
    <p:sldId id="271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31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50DE5-868C-496F-84F2-7FB3B8A5A766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33F9F20B-CD2B-4BB9-9260-76A5FA7C6CED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1983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50DE5-868C-496F-84F2-7FB3B8A5A766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9F20B-CD2B-4BB9-9260-76A5FA7C6CED}" type="slidenum">
              <a:rPr lang="ru-RU" smtClean="0"/>
              <a:t>‹#›</a:t>
            </a:fld>
            <a:endParaRPr lang="ru-RU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0197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50DE5-868C-496F-84F2-7FB3B8A5A766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9F20B-CD2B-4BB9-9260-76A5FA7C6CED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1394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50DE5-868C-496F-84F2-7FB3B8A5A766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9F20B-CD2B-4BB9-9260-76A5FA7C6CED}" type="slidenum">
              <a:rPr lang="ru-RU" smtClean="0"/>
              <a:t>‹#›</a:t>
            </a:fld>
            <a:endParaRPr lang="ru-RU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6545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50DE5-868C-496F-84F2-7FB3B8A5A766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9F20B-CD2B-4BB9-9260-76A5FA7C6CED}" type="slidenum">
              <a:rPr lang="ru-RU" smtClean="0"/>
              <a:t>‹#›</a:t>
            </a:fld>
            <a:endParaRPr lang="ru-RU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0944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50DE5-868C-496F-84F2-7FB3B8A5A766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9F20B-CD2B-4BB9-9260-76A5FA7C6CED}" type="slidenum">
              <a:rPr lang="ru-RU" smtClean="0"/>
              <a:t>‹#›</a:t>
            </a:fld>
            <a:endParaRPr lang="ru-RU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0512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50DE5-868C-496F-84F2-7FB3B8A5A766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9F20B-CD2B-4BB9-9260-76A5FA7C6CE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191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50DE5-868C-496F-84F2-7FB3B8A5A766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9F20B-CD2B-4BB9-9260-76A5FA7C6CED}" type="slidenum">
              <a:rPr lang="ru-RU" smtClean="0"/>
              <a:t>‹#›</a:t>
            </a:fld>
            <a:endParaRPr lang="ru-RU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4355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2250DE5-868C-496F-84F2-7FB3B8A5A766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9F20B-CD2B-4BB9-9260-76A5FA7C6CED}" type="slidenum">
              <a:rPr lang="ru-RU" smtClean="0"/>
              <a:t>‹#›</a:t>
            </a:fld>
            <a:endParaRPr lang="ru-RU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8896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50DE5-868C-496F-84F2-7FB3B8A5A766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9F20B-CD2B-4BB9-9260-76A5FA7C6CED}" type="slidenum">
              <a:rPr lang="ru-RU" smtClean="0"/>
              <a:t>‹#›</a:t>
            </a:fld>
            <a:endParaRPr lang="ru-RU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9873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50DE5-868C-496F-84F2-7FB3B8A5A766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9F20B-CD2B-4BB9-9260-76A5FA7C6CED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8118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250DE5-868C-496F-84F2-7FB3B8A5A766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33F9F20B-CD2B-4BB9-9260-76A5FA7C6CED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699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habr.com/ru/companies/beeline_tech/articles/731706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7F9A97-D5FE-F348-F951-39045A1ED1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55449"/>
            <a:ext cx="11207252" cy="2404872"/>
          </a:xfrm>
        </p:spPr>
        <p:txBody>
          <a:bodyPr>
            <a:normAutofit/>
          </a:bodyPr>
          <a:lstStyle/>
          <a:p>
            <a:r>
              <a:rPr lang="ru-RU" dirty="0"/>
              <a:t>   Организация данных: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818D660-5ABA-FA16-9C4E-42125508B6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Кротов БПИ 23-1</a:t>
            </a: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A03994B4-69C8-251E-D444-D46816BEDA8B}"/>
              </a:ext>
            </a:extLst>
          </p:cNvPr>
          <p:cNvSpPr txBox="1">
            <a:spLocks/>
          </p:cNvSpPr>
          <p:nvPr/>
        </p:nvSpPr>
        <p:spPr>
          <a:xfrm>
            <a:off x="2570180" y="2632831"/>
            <a:ext cx="8637072" cy="977621"/>
          </a:xfrm>
          <a:prstGeom prst="rect">
            <a:avLst/>
          </a:prstGeom>
        </p:spPr>
        <p:txBody>
          <a:bodyPr vert="horz" lIns="91440" tIns="91440" rIns="91440" bIns="91440" rtlCol="0">
            <a:normAutofit fontScale="92500" lnSpcReduction="20000"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b="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замена значение ссылкой, замена ссылки значением, дублирование видимых данных, </a:t>
            </a:r>
            <a:r>
              <a:rPr lang="ru-RU" dirty="0" err="1"/>
              <a:t>самоинкапсуляция</a:t>
            </a:r>
            <a:r>
              <a:rPr lang="ru-RU" dirty="0"/>
              <a:t> поля, замена поля-массива объектом, замена простого поля объектом </a:t>
            </a:r>
          </a:p>
        </p:txBody>
      </p:sp>
    </p:spTree>
    <p:extLst>
      <p:ext uri="{BB962C8B-B14F-4D97-AF65-F5344CB8AC3E}">
        <p14:creationId xmlns:p14="http://schemas.microsoft.com/office/powerpoint/2010/main" val="4206896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A7F00-B3BB-0244-44AB-AB9E1C373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53D772-1DA5-BEBC-2DFE-AC5D11009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презентации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CFBE660-DA77-8616-D05B-448C87854D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Я буду показывать рабочие примеры задач, которые будут решать разные программисты (опытный и неопытный) с объяснениями на примерах (будут и свои)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73021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E6CC54-1438-A64F-953C-EE135354C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Введение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2FFE0D1-4432-3739-4D53-40DAE9B2B9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1" y="1570567"/>
            <a:ext cx="6720417" cy="4229099"/>
          </a:xfrm>
        </p:spPr>
        <p:txBody>
          <a:bodyPr/>
          <a:lstStyle/>
          <a:p>
            <a:endParaRPr lang="ru-RU" i="1" dirty="0"/>
          </a:p>
          <a:p>
            <a:r>
              <a:rPr lang="ru-RU" dirty="0"/>
              <a:t>"Плохой код делает одно и то же в сотне мест. </a:t>
            </a:r>
            <a:r>
              <a:rPr lang="en-US" dirty="0"/>
              <a:t> </a:t>
            </a:r>
            <a:r>
              <a:rPr lang="ru-RU" dirty="0"/>
              <a:t>Хороший код делает это один раз и правильно.“</a:t>
            </a:r>
            <a:endParaRPr lang="en-US" dirty="0"/>
          </a:p>
          <a:p>
            <a:pPr marL="0" indent="0">
              <a:buNone/>
            </a:pPr>
            <a:r>
              <a:rPr lang="en-US" i="1" dirty="0"/>
              <a:t>    </a:t>
            </a:r>
            <a:r>
              <a:rPr lang="en-US" i="1" dirty="0">
                <a:hlinkClick r:id="rId2"/>
              </a:rPr>
              <a:t>https://habr.com/ru/companies/beeline_tech/articles/731706/</a:t>
            </a:r>
            <a:r>
              <a:rPr lang="en-US" i="1" dirty="0"/>
              <a:t> </a:t>
            </a:r>
          </a:p>
          <a:p>
            <a:r>
              <a:rPr lang="ru-RU" i="1" dirty="0"/>
              <a:t>Необходимость повышения качества кода через правильную работу с данными появляется тогда, когда программист начинает работать с большими данными. Мне иногда было интересно посмотреть – как ведет себя система под нагрузкой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C4BD8AD-6088-6AD1-AC5E-4EFCC40177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5418" y="1456267"/>
            <a:ext cx="3973689" cy="2879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5338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66D66-EC18-C67A-284B-45ACFF5D4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1DA9E4-6322-F1C0-3DC1-33215D42C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Рассматриваемые техники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C28D08DE-F3C8-D9B2-0D75-034827EB07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94208663"/>
              </p:ext>
            </p:extLst>
          </p:nvPr>
        </p:nvGraphicFramePr>
        <p:xfrm>
          <a:off x="1450975" y="2016125"/>
          <a:ext cx="9604374" cy="346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1458">
                  <a:extLst>
                    <a:ext uri="{9D8B030D-6E8A-4147-A177-3AD203B41FA5}">
                      <a16:colId xmlns:a16="http://schemas.microsoft.com/office/drawing/2014/main" val="138878147"/>
                    </a:ext>
                  </a:extLst>
                </a:gridCol>
                <a:gridCol w="3201458">
                  <a:extLst>
                    <a:ext uri="{9D8B030D-6E8A-4147-A177-3AD203B41FA5}">
                      <a16:colId xmlns:a16="http://schemas.microsoft.com/office/drawing/2014/main" val="3812727943"/>
                    </a:ext>
                  </a:extLst>
                </a:gridCol>
                <a:gridCol w="3201458">
                  <a:extLst>
                    <a:ext uri="{9D8B030D-6E8A-4147-A177-3AD203B41FA5}">
                      <a16:colId xmlns:a16="http://schemas.microsoft.com/office/drawing/2014/main" val="24085553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Техника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Суть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Когда применять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5654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Замена значения ссылкой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Один объект вместо многих копий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Данные часто обновляются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2140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Замена ссылки значением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  <a:latin typeface="quote-cjk-patch"/>
                        </a:rPr>
                        <a:t>Копия вместо ссылки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Объекты не изменяются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30220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Дублирование видимых данных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Кэширование для производительности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Медленные вычисления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61053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Самоинкапсуляция</a:t>
                      </a:r>
                      <a:r>
                        <a:rPr lang="ru-RU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поля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Доступ через геттеры/сеттеры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Нужен контроль доступа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0710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Замена массива объектом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Массив → Класс с полями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Массив хранит разные сущности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99706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Замена поля объектом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Примитив → Объект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 поля есть поведение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07927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09658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B5423-6D70-9FC7-15B2-8F0D8ACB1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3A4AF3-6D5F-3EFB-35C7-F99D7A8CD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1. Замена значения ссылкой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6C1E56E-7A83-12FB-4B77-824DCF904F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Представим ситуацию: у нас есть валютная биржа, что выставляет локальные заявки на обмен или покупку валют по курсу. Предположим, что </a:t>
            </a:r>
            <a:r>
              <a:rPr lang="en-US" dirty="0"/>
              <a:t>“</a:t>
            </a:r>
            <a:r>
              <a:rPr lang="ru-RU" dirty="0"/>
              <a:t>плохой</a:t>
            </a:r>
            <a:r>
              <a:rPr lang="en-US" dirty="0"/>
              <a:t>”</a:t>
            </a:r>
            <a:r>
              <a:rPr lang="ru-RU" dirty="0"/>
              <a:t> (неосторожный) программист решил задачу организации следующим способом – сделал объекты и поля такими, когда в программе может существовать много валют (как объектов) с одним кодом (допустим, </a:t>
            </a:r>
            <a:r>
              <a:rPr lang="en-US" dirty="0"/>
              <a:t>USD</a:t>
            </a:r>
            <a:r>
              <a:rPr lang="ru-RU" dirty="0"/>
              <a:t>). ему придется писать метод для обновления всех инстансов, что составляет некоторую сложность реализации метода (затрачиваемые единицы времени)</a:t>
            </a:r>
            <a:endParaRPr lang="en-US" dirty="0"/>
          </a:p>
          <a:p>
            <a:r>
              <a:rPr lang="en-US" dirty="0"/>
              <a:t>“</a:t>
            </a:r>
            <a:r>
              <a:rPr lang="ru-RU" dirty="0"/>
              <a:t>Хороший</a:t>
            </a:r>
            <a:r>
              <a:rPr lang="en-US" dirty="0"/>
              <a:t>”</a:t>
            </a:r>
            <a:r>
              <a:rPr lang="ru-RU" dirty="0"/>
              <a:t> (опытный) программист сделает так, чтобы нельзя было добавить следующую сущность с таким же кодом, а значение не придется менять постоянно – один раз написал метод и он подхватил значение курса ссылкой.</a:t>
            </a:r>
          </a:p>
        </p:txBody>
      </p:sp>
    </p:spTree>
    <p:extLst>
      <p:ext uri="{BB962C8B-B14F-4D97-AF65-F5344CB8AC3E}">
        <p14:creationId xmlns:p14="http://schemas.microsoft.com/office/powerpoint/2010/main" val="26821650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23DA8-60B6-B67A-383E-81190B6CE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0E4F77-E267-7055-7325-A5BCD64AB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53E71327-3C6D-8FB7-C1A9-5FA7ACE036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5329" y="1704181"/>
            <a:ext cx="5778271" cy="344963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5569688-E006-B51A-6F63-5E96AE4CF1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983830"/>
            <a:ext cx="5926667" cy="2329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8343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C8204-B9F6-2938-4303-E136E5E73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C8C7FB-1B7B-D510-B905-04453C3D2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64A44770-E09D-F85C-56B1-BC9DE819F7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360" y="185209"/>
            <a:ext cx="5813425" cy="1491988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B39AB82-5DAC-39DA-6C8F-7A1787EC6E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360" y="1623999"/>
            <a:ext cx="5813425" cy="638433"/>
          </a:xfrm>
          <a:prstGeom prst="rect">
            <a:avLst/>
          </a:prstGeom>
        </p:spPr>
      </p:pic>
      <p:pic>
        <p:nvPicPr>
          <p:cNvPr id="6" name="Объект 4">
            <a:extLst>
              <a:ext uri="{FF2B5EF4-FFF2-40B4-BE49-F238E27FC236}">
                <a16:creationId xmlns:a16="http://schemas.microsoft.com/office/drawing/2014/main" id="{D792997C-138F-89D1-239A-9D5861A9F6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3216" y="210163"/>
            <a:ext cx="5813424" cy="3449638"/>
          </a:xfrm>
          <a:prstGeom prst="rect">
            <a:avLst/>
          </a:prstGeom>
        </p:spPr>
      </p:pic>
      <p:pic>
        <p:nvPicPr>
          <p:cNvPr id="9" name="Объект 4">
            <a:extLst>
              <a:ext uri="{FF2B5EF4-FFF2-40B4-BE49-F238E27FC236}">
                <a16:creationId xmlns:a16="http://schemas.microsoft.com/office/drawing/2014/main" id="{F3D83381-41F3-7626-7077-43B87B7EB7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166" y="3701222"/>
            <a:ext cx="9382125" cy="3105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1365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0DACC-FC3F-2B46-FAE0-9397D7104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F79BA6-054D-35CE-5C9C-DFEC03163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2B5F05EB-463F-9658-76D5-0437333465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380057" cy="3522267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9ECD2D63-F748-D11D-62D0-C15CE152B8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8620" y="3496733"/>
            <a:ext cx="4197670" cy="1311231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4C9D1B5C-FE03-3DB5-3CB2-06B03BB6EC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0057" y="-17927"/>
            <a:ext cx="5886777" cy="3540193"/>
          </a:xfrm>
          <a:prstGeom prst="rect">
            <a:avLst/>
          </a:prstGeom>
        </p:spPr>
      </p:pic>
      <p:sp>
        <p:nvSpPr>
          <p:cNvPr id="19" name="Объект 18">
            <a:extLst>
              <a:ext uri="{FF2B5EF4-FFF2-40B4-BE49-F238E27FC236}">
                <a16:creationId xmlns:a16="http://schemas.microsoft.com/office/drawing/2014/main" id="{F2C57EB3-CADD-CA0F-18A6-4DF1F53306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40379" y="3496733"/>
            <a:ext cx="2325721" cy="2655412"/>
          </a:xfrm>
        </p:spPr>
        <p:txBody>
          <a:bodyPr/>
          <a:lstStyle/>
          <a:p>
            <a:endParaRPr lang="ru-RU" dirty="0"/>
          </a:p>
        </p:txBody>
      </p:sp>
      <p:pic>
        <p:nvPicPr>
          <p:cNvPr id="20" name="Объект 4">
            <a:extLst>
              <a:ext uri="{FF2B5EF4-FFF2-40B4-BE49-F238E27FC236}">
                <a16:creationId xmlns:a16="http://schemas.microsoft.com/office/drawing/2014/main" id="{C20BF814-4D8B-9730-C5DC-ACBD361FEE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4629" y="4824439"/>
            <a:ext cx="7913368" cy="1962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1526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E427A-E905-2064-AF5D-B17AFEB81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339AFD-34AD-CB0E-32D2-D28B3FE04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Выводы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85A13928-176D-81C4-1F0E-4C4254DF06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26808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7B614-4177-D7A1-31A9-4D158FEB5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19A909-8B42-A190-30D6-259DFFB52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2. замена ссылки значением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D8AE37E-FAD7-8929-B92F-4F0A6B546C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Это немного </a:t>
            </a:r>
            <a:r>
              <a:rPr lang="en-US" dirty="0"/>
              <a:t>“</a:t>
            </a:r>
            <a:r>
              <a:rPr lang="ru-RU" dirty="0"/>
              <a:t>наоборот</a:t>
            </a:r>
            <a:r>
              <a:rPr lang="en-US" dirty="0"/>
              <a:t>”</a:t>
            </a:r>
            <a:r>
              <a:rPr lang="ru-RU" dirty="0"/>
              <a:t> первой задачи. Когда есть необходимость передать ссылочный тип, но работать нужно с </a:t>
            </a:r>
            <a:r>
              <a:rPr lang="ru-RU" b="1" dirty="0"/>
              <a:t>копией значения</a:t>
            </a:r>
            <a:r>
              <a:rPr lang="ru-RU" dirty="0"/>
              <a:t>, а не с оригиналом.</a:t>
            </a:r>
          </a:p>
          <a:p>
            <a:r>
              <a:rPr lang="ru-RU" dirty="0"/>
              <a:t>Предположим, что есть логирование ошибок или сообщений от пользователя в чате. Каждый раз, когда пользователь пишет нехорошее сообщение, сервис удаляет его. Однако хитрый пользователь может сначала отправить доброе сообщение с сердечками, а по итогу изменить его на плохое. Вот тут и пригодится это знание</a:t>
            </a:r>
          </a:p>
        </p:txBody>
      </p:sp>
    </p:spTree>
    <p:extLst>
      <p:ext uri="{BB962C8B-B14F-4D97-AF65-F5344CB8AC3E}">
        <p14:creationId xmlns:p14="http://schemas.microsoft.com/office/powerpoint/2010/main" val="25680019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16EA7-9E49-9D50-EB55-122153255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45E395-5BFB-604E-6BC5-06BBE3184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3. Дублирование видимых данных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29D0BC-74B0-EB6F-1449-88DB56753D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99128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91394-8123-4CF6-8472-BAB7C85B1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A22989-BA43-17CD-4723-D00FD0FBF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D0E179-2566-1F1D-64E1-0B72C143A5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7911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66156-3413-43D1-3F54-C703EC65C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009D93-BE24-B7BB-B19F-E8CEDABFF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4. </a:t>
            </a:r>
            <a:r>
              <a:rPr lang="ru-RU" dirty="0" err="1"/>
              <a:t>Самоинкапсуляция</a:t>
            </a:r>
            <a:r>
              <a:rPr lang="ru-RU" dirty="0"/>
              <a:t> поля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E06DF37-98C0-7923-ABDE-3E85245A6B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362" y="1947999"/>
            <a:ext cx="9603275" cy="3450613"/>
          </a:xfrm>
        </p:spPr>
        <p:txBody>
          <a:bodyPr/>
          <a:lstStyle/>
          <a:p>
            <a:r>
              <a:rPr lang="ru-RU" dirty="0"/>
              <a:t>Суть: ограничение доступности к свойствам класса для безопасности. Поле класса доступно только через свойство (геттер/сеттер), даже внутри самого класса.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8A6364F-6AAF-1497-DB93-6E1EA78D71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956" y="2774379"/>
            <a:ext cx="2889002" cy="3279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4756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B3C4A-DA81-AA6B-9932-51E8106BC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5AC407-7075-FC97-79FF-40DEF3F69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07201AF-0E33-4755-6163-13710A3DD0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393" y="3053780"/>
            <a:ext cx="5269542" cy="3599984"/>
          </a:xfrm>
          <a:prstGeom prst="rect">
            <a:avLst/>
          </a:prstGeom>
        </p:spPr>
      </p:pic>
      <p:sp>
        <p:nvSpPr>
          <p:cNvPr id="9" name="Объект 8">
            <a:extLst>
              <a:ext uri="{FF2B5EF4-FFF2-40B4-BE49-F238E27FC236}">
                <a16:creationId xmlns:a16="http://schemas.microsoft.com/office/drawing/2014/main" id="{BA810B6F-0D7A-E355-CB5C-25BF645EA3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A49F4A0-2367-163F-015B-9560C1829B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393" y="153391"/>
            <a:ext cx="7362825" cy="2819400"/>
          </a:xfrm>
          <a:prstGeom prst="rect">
            <a:avLst/>
          </a:prstGeom>
        </p:spPr>
      </p:pic>
      <p:pic>
        <p:nvPicPr>
          <p:cNvPr id="12" name="Объект 4">
            <a:extLst>
              <a:ext uri="{FF2B5EF4-FFF2-40B4-BE49-F238E27FC236}">
                <a16:creationId xmlns:a16="http://schemas.microsoft.com/office/drawing/2014/main" id="{47DBFF2B-A15B-CB3A-4C74-A6F15AEE40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4247" y="3053780"/>
            <a:ext cx="5055863" cy="2060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2009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676ED-F604-E06C-7B9C-755C675ED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4D3CDC-B9BC-9690-76D8-9366B2BE5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6EC4B101-CC43-3C8F-78E1-EAACFC3BD4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20639"/>
            <a:ext cx="5966894" cy="373750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D72FEC3-8404-184B-4B0F-D3740110B6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6893" y="-20639"/>
            <a:ext cx="6579033" cy="373750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7265FF9-BA96-0024-7B00-307D24A025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9599" y="4109866"/>
            <a:ext cx="7400535" cy="1864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6711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FFAE8-77D2-C10F-A52E-79C0D5B40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0BB89F-82A9-8932-6086-B689C2A82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ru-RU" sz="3600" dirty="0"/>
              <a:t>Полная таблица всех комбинаций</a:t>
            </a:r>
            <a:endParaRPr lang="ru-RU" dirty="0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5FE54390-921F-23BD-212B-812D906F770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57594" y="2014792"/>
          <a:ext cx="9591136" cy="3452304"/>
        </p:xfrm>
        <a:graphic>
          <a:graphicData uri="http://schemas.openxmlformats.org/drawingml/2006/table">
            <a:tbl>
              <a:tblPr/>
              <a:tblGrid>
                <a:gridCol w="2049718">
                  <a:extLst>
                    <a:ext uri="{9D8B030D-6E8A-4147-A177-3AD203B41FA5}">
                      <a16:colId xmlns:a16="http://schemas.microsoft.com/office/drawing/2014/main" val="2661230199"/>
                    </a:ext>
                  </a:extLst>
                </a:gridCol>
                <a:gridCol w="2513806">
                  <a:extLst>
                    <a:ext uri="{9D8B030D-6E8A-4147-A177-3AD203B41FA5}">
                      <a16:colId xmlns:a16="http://schemas.microsoft.com/office/drawing/2014/main" val="2334885434"/>
                    </a:ext>
                  </a:extLst>
                </a:gridCol>
                <a:gridCol w="2513806">
                  <a:extLst>
                    <a:ext uri="{9D8B030D-6E8A-4147-A177-3AD203B41FA5}">
                      <a16:colId xmlns:a16="http://schemas.microsoft.com/office/drawing/2014/main" val="3741500330"/>
                    </a:ext>
                  </a:extLst>
                </a:gridCol>
                <a:gridCol w="2513806">
                  <a:extLst>
                    <a:ext uri="{9D8B030D-6E8A-4147-A177-3AD203B41FA5}">
                      <a16:colId xmlns:a16="http://schemas.microsoft.com/office/drawing/2014/main" val="3963959998"/>
                    </a:ext>
                  </a:extLst>
                </a:gridCol>
              </a:tblGrid>
              <a:tr h="431205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800" b="0">
                          <a:effectLst/>
                          <a:latin typeface="quote-cjk-patch"/>
                        </a:rPr>
                        <a:t>Модификатор </a:t>
                      </a:r>
                      <a:r>
                        <a:rPr lang="en-US" sz="1800" b="0">
                          <a:effectLst/>
                          <a:latin typeface="quote-cjk-patch"/>
                        </a:rPr>
                        <a:t>get</a:t>
                      </a:r>
                    </a:p>
                  </a:txBody>
                  <a:tcPr marL="91314" marR="152190" marT="95119" marB="951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800" b="0">
                          <a:effectLst/>
                          <a:latin typeface="quote-cjk-patch"/>
                        </a:rPr>
                        <a:t>Модификатор </a:t>
                      </a:r>
                      <a:r>
                        <a:rPr lang="en-US" sz="1800" b="0">
                          <a:effectLst/>
                          <a:latin typeface="quote-cjk-patch"/>
                        </a:rPr>
                        <a:t>set</a:t>
                      </a:r>
                    </a:p>
                  </a:txBody>
                  <a:tcPr marL="152190" marR="152190" marT="95119" marB="951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800" b="0">
                          <a:effectLst/>
                          <a:latin typeface="quote-cjk-patch"/>
                        </a:rPr>
                        <a:t>Кто может читать</a:t>
                      </a:r>
                    </a:p>
                  </a:txBody>
                  <a:tcPr marL="152190" marR="152190" marT="95119" marB="951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800" b="0">
                          <a:effectLst/>
                          <a:latin typeface="quote-cjk-patch"/>
                        </a:rPr>
                        <a:t>Кто может писать</a:t>
                      </a:r>
                    </a:p>
                  </a:txBody>
                  <a:tcPr marL="152190" marR="152190" marT="95119" marB="951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8561693"/>
                  </a:ext>
                </a:extLst>
              </a:tr>
              <a:tr h="431205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800" b="0">
                          <a:effectLst/>
                          <a:latin typeface="Menlo"/>
                        </a:rPr>
                        <a:t>public</a:t>
                      </a:r>
                      <a:endParaRPr lang="en-US" sz="1800" b="0">
                        <a:effectLst/>
                        <a:latin typeface="quote-cjk-patch"/>
                      </a:endParaRPr>
                    </a:p>
                  </a:txBody>
                  <a:tcPr marL="91314" marR="152190" marT="95119" marB="951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800" b="0">
                          <a:effectLst/>
                          <a:latin typeface="Menlo"/>
                        </a:rPr>
                        <a:t>public</a:t>
                      </a:r>
                      <a:endParaRPr lang="en-US" sz="1800" b="0">
                        <a:effectLst/>
                        <a:latin typeface="quote-cjk-patch"/>
                      </a:endParaRPr>
                    </a:p>
                  </a:txBody>
                  <a:tcPr marL="152190" marR="152190" marT="95119" marB="951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800" b="0">
                          <a:effectLst/>
                          <a:latin typeface="quote-cjk-patch"/>
                        </a:rPr>
                        <a:t>Все</a:t>
                      </a:r>
                    </a:p>
                  </a:txBody>
                  <a:tcPr marL="152190" marR="152190" marT="95119" marB="951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800" b="0">
                          <a:effectLst/>
                          <a:latin typeface="quote-cjk-patch"/>
                        </a:rPr>
                        <a:t>Все</a:t>
                      </a:r>
                    </a:p>
                  </a:txBody>
                  <a:tcPr marL="152190" marR="91314" marT="95119" marB="951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8618159"/>
                  </a:ext>
                </a:extLst>
              </a:tr>
              <a:tr h="431205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800" b="0">
                          <a:effectLst/>
                          <a:latin typeface="Menlo"/>
                        </a:rPr>
                        <a:t>public</a:t>
                      </a:r>
                      <a:endParaRPr lang="en-US" sz="1800" b="0">
                        <a:effectLst/>
                        <a:latin typeface="quote-cjk-patch"/>
                      </a:endParaRPr>
                    </a:p>
                  </a:txBody>
                  <a:tcPr marL="91314" marR="152190" marT="95119" marB="951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800" b="0">
                          <a:effectLst/>
                          <a:latin typeface="Menlo"/>
                        </a:rPr>
                        <a:t>private</a:t>
                      </a:r>
                      <a:endParaRPr lang="en-US" sz="1800" b="0">
                        <a:effectLst/>
                        <a:latin typeface="quote-cjk-patch"/>
                      </a:endParaRPr>
                    </a:p>
                  </a:txBody>
                  <a:tcPr marL="152190" marR="152190" marT="95119" marB="951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800" b="0">
                          <a:effectLst/>
                          <a:latin typeface="quote-cjk-patch"/>
                        </a:rPr>
                        <a:t>Все</a:t>
                      </a:r>
                    </a:p>
                  </a:txBody>
                  <a:tcPr marL="152190" marR="152190" marT="95119" marB="951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800" b="0">
                          <a:effectLst/>
                          <a:latin typeface="quote-cjk-patch"/>
                        </a:rPr>
                        <a:t>Только внутри класса</a:t>
                      </a:r>
                    </a:p>
                  </a:txBody>
                  <a:tcPr marL="152190" marR="91314" marT="95119" marB="951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2595317"/>
                  </a:ext>
                </a:extLst>
              </a:tr>
              <a:tr h="431205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800" b="0">
                          <a:effectLst/>
                          <a:latin typeface="Menlo"/>
                        </a:rPr>
                        <a:t>public</a:t>
                      </a:r>
                      <a:endParaRPr lang="en-US" sz="1800" b="0">
                        <a:effectLst/>
                        <a:latin typeface="quote-cjk-patch"/>
                      </a:endParaRPr>
                    </a:p>
                  </a:txBody>
                  <a:tcPr marL="91314" marR="152190" marT="95119" marB="951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800" b="0">
                          <a:effectLst/>
                          <a:latin typeface="Menlo"/>
                        </a:rPr>
                        <a:t>protected</a:t>
                      </a:r>
                      <a:endParaRPr lang="en-US" sz="1800" b="0">
                        <a:effectLst/>
                        <a:latin typeface="quote-cjk-patch"/>
                      </a:endParaRPr>
                    </a:p>
                  </a:txBody>
                  <a:tcPr marL="152190" marR="152190" marT="95119" marB="951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800" b="0">
                          <a:effectLst/>
                          <a:latin typeface="quote-cjk-patch"/>
                        </a:rPr>
                        <a:t>Все</a:t>
                      </a:r>
                    </a:p>
                  </a:txBody>
                  <a:tcPr marL="152190" marR="152190" marT="95119" marB="951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800" b="0">
                          <a:effectLst/>
                          <a:latin typeface="quote-cjk-patch"/>
                        </a:rPr>
                        <a:t>Класс и наследники</a:t>
                      </a:r>
                    </a:p>
                  </a:txBody>
                  <a:tcPr marL="152190" marR="91314" marT="95119" marB="951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3946831"/>
                  </a:ext>
                </a:extLst>
              </a:tr>
              <a:tr h="431205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800" b="0">
                          <a:effectLst/>
                          <a:latin typeface="Menlo"/>
                        </a:rPr>
                        <a:t>public</a:t>
                      </a:r>
                      <a:endParaRPr lang="en-US" sz="1800" b="0">
                        <a:effectLst/>
                        <a:latin typeface="quote-cjk-patch"/>
                      </a:endParaRPr>
                    </a:p>
                  </a:txBody>
                  <a:tcPr marL="91314" marR="152190" marT="95119" marB="951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800" b="0">
                          <a:effectLst/>
                          <a:latin typeface="Menlo"/>
                        </a:rPr>
                        <a:t>internal</a:t>
                      </a:r>
                      <a:endParaRPr lang="en-US" sz="1800" b="0">
                        <a:effectLst/>
                        <a:latin typeface="quote-cjk-patch"/>
                      </a:endParaRPr>
                    </a:p>
                  </a:txBody>
                  <a:tcPr marL="152190" marR="152190" marT="95119" marB="951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800" b="0">
                          <a:effectLst/>
                          <a:latin typeface="quote-cjk-patch"/>
                        </a:rPr>
                        <a:t>Все</a:t>
                      </a:r>
                    </a:p>
                  </a:txBody>
                  <a:tcPr marL="152190" marR="152190" marT="95119" marB="951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800" b="0">
                          <a:effectLst/>
                          <a:latin typeface="quote-cjk-patch"/>
                        </a:rPr>
                        <a:t>Внутри сборки</a:t>
                      </a:r>
                    </a:p>
                  </a:txBody>
                  <a:tcPr marL="152190" marR="91314" marT="95119" marB="951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2117995"/>
                  </a:ext>
                </a:extLst>
              </a:tr>
              <a:tr h="431205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800" b="0">
                          <a:effectLst/>
                          <a:latin typeface="Menlo"/>
                        </a:rPr>
                        <a:t>private</a:t>
                      </a:r>
                      <a:endParaRPr lang="en-US" sz="1800" b="0">
                        <a:effectLst/>
                        <a:latin typeface="quote-cjk-patch"/>
                      </a:endParaRPr>
                    </a:p>
                  </a:txBody>
                  <a:tcPr marL="91314" marR="152190" marT="95119" marB="951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800" b="0">
                          <a:effectLst/>
                          <a:latin typeface="Menlo"/>
                        </a:rPr>
                        <a:t>public</a:t>
                      </a:r>
                      <a:endParaRPr lang="en-US" sz="1800" b="0">
                        <a:effectLst/>
                        <a:latin typeface="quote-cjk-patch"/>
                      </a:endParaRPr>
                    </a:p>
                  </a:txBody>
                  <a:tcPr marL="152190" marR="152190" marT="95119" marB="951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800" b="0">
                          <a:effectLst/>
                          <a:latin typeface="quote-cjk-patch"/>
                        </a:rPr>
                        <a:t>Только внутри класса</a:t>
                      </a:r>
                    </a:p>
                  </a:txBody>
                  <a:tcPr marL="152190" marR="152190" marT="95119" marB="951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800" b="0">
                          <a:effectLst/>
                          <a:latin typeface="quote-cjk-patch"/>
                        </a:rPr>
                        <a:t>Все</a:t>
                      </a:r>
                    </a:p>
                  </a:txBody>
                  <a:tcPr marL="152190" marR="91314" marT="95119" marB="951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7123904"/>
                  </a:ext>
                </a:extLst>
              </a:tr>
              <a:tr h="431205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800" b="0">
                          <a:effectLst/>
                          <a:latin typeface="Menlo"/>
                        </a:rPr>
                        <a:t>private</a:t>
                      </a:r>
                      <a:endParaRPr lang="en-US" sz="1800" b="0">
                        <a:effectLst/>
                        <a:latin typeface="quote-cjk-patch"/>
                      </a:endParaRPr>
                    </a:p>
                  </a:txBody>
                  <a:tcPr marL="91314" marR="152190" marT="95119" marB="951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800" b="0">
                          <a:effectLst/>
                          <a:latin typeface="Menlo"/>
                        </a:rPr>
                        <a:t>private</a:t>
                      </a:r>
                      <a:endParaRPr lang="en-US" sz="1800" b="0">
                        <a:effectLst/>
                        <a:latin typeface="quote-cjk-patch"/>
                      </a:endParaRPr>
                    </a:p>
                  </a:txBody>
                  <a:tcPr marL="152190" marR="152190" marT="95119" marB="951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800" b="0">
                          <a:effectLst/>
                          <a:latin typeface="quote-cjk-patch"/>
                        </a:rPr>
                        <a:t>Только внутри класса</a:t>
                      </a:r>
                    </a:p>
                  </a:txBody>
                  <a:tcPr marL="152190" marR="152190" marT="95119" marB="951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800" b="0">
                          <a:effectLst/>
                          <a:latin typeface="quote-cjk-patch"/>
                        </a:rPr>
                        <a:t>Только внутри класса</a:t>
                      </a:r>
                    </a:p>
                  </a:txBody>
                  <a:tcPr marL="152190" marR="91314" marT="95119" marB="951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189794"/>
                  </a:ext>
                </a:extLst>
              </a:tr>
              <a:tr h="431205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800" b="0">
                          <a:effectLst/>
                          <a:latin typeface="Menlo"/>
                        </a:rPr>
                        <a:t>protected</a:t>
                      </a:r>
                      <a:endParaRPr lang="en-US" sz="1800" b="0">
                        <a:effectLst/>
                        <a:latin typeface="quote-cjk-patch"/>
                      </a:endParaRPr>
                    </a:p>
                  </a:txBody>
                  <a:tcPr marL="91314" marR="152190" marT="95119" marB="951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800" b="0">
                          <a:effectLst/>
                          <a:latin typeface="Menlo"/>
                        </a:rPr>
                        <a:t>public</a:t>
                      </a:r>
                      <a:endParaRPr lang="en-US" sz="1800" b="0">
                        <a:effectLst/>
                        <a:latin typeface="quote-cjk-patch"/>
                      </a:endParaRPr>
                    </a:p>
                  </a:txBody>
                  <a:tcPr marL="152190" marR="152190" marT="95119" marB="951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800" b="0">
                          <a:effectLst/>
                          <a:latin typeface="quote-cjk-patch"/>
                        </a:rPr>
                        <a:t>Класс и наследники</a:t>
                      </a:r>
                    </a:p>
                  </a:txBody>
                  <a:tcPr marL="152190" marR="152190" marT="95119" marB="951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800" b="0" dirty="0">
                          <a:effectLst/>
                          <a:latin typeface="quote-cjk-patch"/>
                        </a:rPr>
                        <a:t>Все</a:t>
                      </a:r>
                    </a:p>
                  </a:txBody>
                  <a:tcPr marL="152190" marR="91314" marT="95119" marB="951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5068986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297623D9-779D-1B9B-6B0A-36184B73D3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63739"/>
            <a:ext cx="65" cy="584679"/>
          </a:xfrm>
          <a:prstGeom prst="rect">
            <a:avLst/>
          </a:prstGeom>
          <a:solidFill>
            <a:srgbClr val="15151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203136" rIns="0" bIns="101568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25185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9A1AFA-B52E-AAC1-5362-C8C5937FC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Итоги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4876358-A7C0-AF3E-9723-1EE9F01FC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Модификатор доступа можно указать ТОЛЬКО для ОДНОГО </a:t>
            </a:r>
            <a:r>
              <a:rPr lang="ru-RU" dirty="0" err="1"/>
              <a:t>аксессора</a:t>
            </a:r>
            <a:r>
              <a:rPr lang="ru-RU" dirty="0"/>
              <a:t> (</a:t>
            </a:r>
            <a:r>
              <a:rPr lang="ru-RU" dirty="0" err="1"/>
              <a:t>get</a:t>
            </a:r>
            <a:r>
              <a:rPr lang="ru-RU" dirty="0"/>
              <a:t> или </a:t>
            </a:r>
            <a:r>
              <a:rPr lang="ru-RU" dirty="0" err="1"/>
              <a:t>set</a:t>
            </a:r>
            <a:r>
              <a:rPr lang="ru-RU" dirty="0"/>
              <a:t>)</a:t>
            </a:r>
          </a:p>
          <a:p>
            <a:r>
              <a:rPr lang="ru-RU" dirty="0"/>
              <a:t>Этот модификатор должен быть СТРОЖЕ, чем у самого свойства</a:t>
            </a:r>
          </a:p>
          <a:p>
            <a:r>
              <a:rPr lang="ru-RU" dirty="0"/>
              <a:t>Авто-свойства не могут быть только </a:t>
            </a:r>
            <a:r>
              <a:rPr lang="ru-RU" dirty="0" err="1"/>
              <a:t>set</a:t>
            </a:r>
            <a:r>
              <a:rPr lang="ru-RU" dirty="0"/>
              <a:t> (нужен хотя бы </a:t>
            </a:r>
            <a:r>
              <a:rPr lang="ru-RU" dirty="0" err="1"/>
              <a:t>get</a:t>
            </a:r>
            <a:r>
              <a:rPr lang="ru-RU" dirty="0"/>
              <a:t>) </a:t>
            </a:r>
          </a:p>
          <a:p>
            <a:r>
              <a:rPr lang="ru-RU" dirty="0"/>
              <a:t>Если нужны оба приватные — </a:t>
            </a:r>
            <a:r>
              <a:rPr lang="ru-RU" dirty="0" err="1"/>
              <a:t>private</a:t>
            </a:r>
            <a:r>
              <a:rPr lang="ru-RU" dirty="0"/>
              <a:t> </a:t>
            </a:r>
            <a:r>
              <a:rPr lang="ru-RU" dirty="0" err="1"/>
              <a:t>string</a:t>
            </a:r>
            <a:r>
              <a:rPr lang="ru-RU" dirty="0"/>
              <a:t> Name { </a:t>
            </a:r>
            <a:r>
              <a:rPr lang="ru-RU" dirty="0" err="1"/>
              <a:t>get</a:t>
            </a:r>
            <a:r>
              <a:rPr lang="ru-RU" dirty="0"/>
              <a:t>; </a:t>
            </a:r>
            <a:r>
              <a:rPr lang="ru-RU" dirty="0" err="1"/>
              <a:t>set</a:t>
            </a:r>
            <a:r>
              <a:rPr lang="ru-RU" dirty="0"/>
              <a:t>; }</a:t>
            </a:r>
          </a:p>
        </p:txBody>
      </p:sp>
    </p:spTree>
    <p:extLst>
      <p:ext uri="{BB962C8B-B14F-4D97-AF65-F5344CB8AC3E}">
        <p14:creationId xmlns:p14="http://schemas.microsoft.com/office/powerpoint/2010/main" val="38922766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49906-6E75-79CD-AC6D-543F5C2A3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CB28F1-7B53-6B8E-0D74-71A925339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</a:t>
            </a:r>
            <a:r>
              <a:rPr lang="ru-RU" dirty="0"/>
              <a:t>Замена поля-массива объектом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EF23C97-FF66-009E-13D2-1604A1EA59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68686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C15DA4-C727-8670-2B0F-654A5E127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6. Замена простого поля объектом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77D01CE-F7FE-B1A0-2D7B-1062DF8698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80" y="2015732"/>
            <a:ext cx="4915354" cy="3450613"/>
          </a:xfrm>
        </p:spPr>
        <p:txBody>
          <a:bodyPr/>
          <a:lstStyle/>
          <a:p>
            <a:r>
              <a:rPr lang="ru-RU" dirty="0"/>
              <a:t>Суть: Нужно иметь какой-то список или расширяемый объект (настройки и </a:t>
            </a:r>
            <a:r>
              <a:rPr lang="ru-RU" dirty="0" err="1"/>
              <a:t>тд</a:t>
            </a:r>
            <a:r>
              <a:rPr lang="ru-RU" dirty="0"/>
              <a:t>), который в себе может содержать свойства так же, как и первоначальная сущность</a:t>
            </a:r>
          </a:p>
        </p:txBody>
      </p:sp>
    </p:spTree>
    <p:extLst>
      <p:ext uri="{BB962C8B-B14F-4D97-AF65-F5344CB8AC3E}">
        <p14:creationId xmlns:p14="http://schemas.microsoft.com/office/powerpoint/2010/main" val="3420293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78DC7-BAF6-B2C6-4E42-0B3BCF049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36861A-14A5-B59A-7F03-9124C4A4A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83F6C19E-E4ED-EE99-99DC-9A895F1E8C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340" y="128935"/>
            <a:ext cx="5426564" cy="3449638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B6283F3-4EBC-F595-E79C-E95045D6F3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2231" y="2243666"/>
            <a:ext cx="6914415" cy="4199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7466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12F473-1539-A2BE-D06A-3297D0733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770376A-1B2B-8DFA-E874-064714AC07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32" y="209924"/>
            <a:ext cx="6366001" cy="3159809"/>
          </a:xfrm>
          <a:prstGeom prst="rect">
            <a:avLst/>
          </a:prstGeom>
        </p:spPr>
      </p:pic>
      <p:sp>
        <p:nvSpPr>
          <p:cNvPr id="11" name="Объект 10">
            <a:extLst>
              <a:ext uri="{FF2B5EF4-FFF2-40B4-BE49-F238E27FC236}">
                <a16:creationId xmlns:a16="http://schemas.microsoft.com/office/drawing/2014/main" id="{3AFEF478-3F23-35A5-5956-3C696229D0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AD381129-ED07-6323-5AE2-788F7D0167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199" y="5307095"/>
            <a:ext cx="5304503" cy="1492772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A0CDD534-C058-646F-5344-1B3380CF89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7003" y="209924"/>
            <a:ext cx="4961099" cy="3355890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25E16382-D015-D82A-5378-3B0A875E29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9691" y="3623582"/>
            <a:ext cx="4595721" cy="3024494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9DEF1184-FAB9-D8F8-FFAE-8D4B1E13A5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5479" y="3964328"/>
            <a:ext cx="5535612" cy="675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7223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744D0-FDAB-ED48-8BEB-3367BDA51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1DEE22-6E42-078D-0525-ACAE0D1AE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Рассматриваемые техники (освежим память)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B42AAABD-C054-5B97-D1AB-B319DD290A9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50975" y="2016125"/>
          <a:ext cx="9604374" cy="346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1458">
                  <a:extLst>
                    <a:ext uri="{9D8B030D-6E8A-4147-A177-3AD203B41FA5}">
                      <a16:colId xmlns:a16="http://schemas.microsoft.com/office/drawing/2014/main" val="138878147"/>
                    </a:ext>
                  </a:extLst>
                </a:gridCol>
                <a:gridCol w="3201458">
                  <a:extLst>
                    <a:ext uri="{9D8B030D-6E8A-4147-A177-3AD203B41FA5}">
                      <a16:colId xmlns:a16="http://schemas.microsoft.com/office/drawing/2014/main" val="3812727943"/>
                    </a:ext>
                  </a:extLst>
                </a:gridCol>
                <a:gridCol w="3201458">
                  <a:extLst>
                    <a:ext uri="{9D8B030D-6E8A-4147-A177-3AD203B41FA5}">
                      <a16:colId xmlns:a16="http://schemas.microsoft.com/office/drawing/2014/main" val="24085553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Техника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Суть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Когда применять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5654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Замена значения ссылкой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Один объект вместо многих копий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Данные часто обновляются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2140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Замена ссылки значением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  <a:latin typeface="quote-cjk-patch"/>
                        </a:rPr>
                        <a:t>Копия вместо ссылки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Объекты не изменяются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30220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Дублирование видимых данных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Кэширование для производительности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Медленные вычисления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61053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Самоинкапсуляция</a:t>
                      </a:r>
                      <a:r>
                        <a:rPr lang="ru-RU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поля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Доступ через геттеры/сеттеры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Нужен контроль доступа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0710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Замена массива объектом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Массив → Класс с полями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Массив хранит разные сущности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99706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Замена поля объектом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Примитив → Объект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 поля есть поведение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07927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01101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2AFB4-93B6-1A4B-EFB7-0CE535CDF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A2374-CBCF-8784-7972-4AE8A3270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Спасибо за внимание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33E6AC0-5848-D59E-DF61-FBC2E541EF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https://github.com/reloadedie/Agile_Theme7_part2</a:t>
            </a:r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72AD6D7-9FCD-B3B4-3033-44EA2B6F15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5999" y="2664100"/>
            <a:ext cx="6845934" cy="3990034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1CEF951-B308-6A42-5C28-B582942EFE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682" y="2763438"/>
            <a:ext cx="4252185" cy="3791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442518"/>
      </p:ext>
    </p:extLst>
  </p:cSld>
  <p:clrMapOvr>
    <a:masterClrMapping/>
  </p:clrMapOvr>
</p:sld>
</file>

<file path=ppt/theme/theme1.xml><?xml version="1.0" encoding="utf-8"?>
<a:theme xmlns:a="http://schemas.openxmlformats.org/drawingml/2006/main" name="Галерея">
  <a:themeElements>
    <a:clrScheme name="Галерея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Галерея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Галерея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131</TotalTime>
  <Words>671</Words>
  <Application>Microsoft Office PowerPoint</Application>
  <PresentationFormat>Широкоэкранный</PresentationFormat>
  <Paragraphs>107</Paragraphs>
  <Slides>23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28" baseType="lpstr">
      <vt:lpstr>Arial</vt:lpstr>
      <vt:lpstr>Gill Sans MT</vt:lpstr>
      <vt:lpstr>Menlo</vt:lpstr>
      <vt:lpstr>quote-cjk-patch</vt:lpstr>
      <vt:lpstr>Галерея</vt:lpstr>
      <vt:lpstr>   Организация данных:</vt:lpstr>
      <vt:lpstr>Структура презентации</vt:lpstr>
      <vt:lpstr>Введение</vt:lpstr>
      <vt:lpstr>Рассматриваемые техники</vt:lpstr>
      <vt:lpstr>1. Замена значения ссылкой </vt:lpstr>
      <vt:lpstr>Презентация PowerPoint</vt:lpstr>
      <vt:lpstr>Презентация PowerPoint</vt:lpstr>
      <vt:lpstr>Презентация PowerPoint</vt:lpstr>
      <vt:lpstr>Выводы</vt:lpstr>
      <vt:lpstr>2. замена ссылки значением </vt:lpstr>
      <vt:lpstr>3. Дублирование видимых данных</vt:lpstr>
      <vt:lpstr>Презентация PowerPoint</vt:lpstr>
      <vt:lpstr>4. Самоинкапсуляция поля</vt:lpstr>
      <vt:lpstr>Презентация PowerPoint</vt:lpstr>
      <vt:lpstr>Презентация PowerPoint</vt:lpstr>
      <vt:lpstr>Полная таблица всех комбинаций</vt:lpstr>
      <vt:lpstr>Итоги</vt:lpstr>
      <vt:lpstr>5. Замена поля-массива объектом</vt:lpstr>
      <vt:lpstr>6. Замена простого поля объектом</vt:lpstr>
      <vt:lpstr>Презентация PowerPoint</vt:lpstr>
      <vt:lpstr>Презентация PowerPoint</vt:lpstr>
      <vt:lpstr>Рассматриваемые техники (освежим память)</vt:lpstr>
      <vt:lpstr>Спасибо за внимание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Кирилл Кротов</dc:creator>
  <cp:lastModifiedBy>Кирилл Кротов</cp:lastModifiedBy>
  <cp:revision>108</cp:revision>
  <dcterms:created xsi:type="dcterms:W3CDTF">2026-04-04T01:12:46Z</dcterms:created>
  <dcterms:modified xsi:type="dcterms:W3CDTF">2026-04-20T11:25:59Z</dcterms:modified>
</cp:coreProperties>
</file>